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Oswald Light"/>
      <p:regular r:id="rId15"/>
      <p:bold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eWfk9h/lqZFnllwWMMEFJcKcM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Light-regular.fntdata"/><Relationship Id="rId14" Type="http://schemas.openxmlformats.org/officeDocument/2006/relationships/slide" Target="slides/slide10.xml"/><Relationship Id="rId17" Type="http://schemas.openxmlformats.org/officeDocument/2006/relationships/font" Target="fonts/Oswald-regular.fntdata"/><Relationship Id="rId16" Type="http://schemas.openxmlformats.org/officeDocument/2006/relationships/font" Target="fonts/OswaldLight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Oswa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429612" y="1013984"/>
            <a:ext cx="7714388" cy="32606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429612" y="4848464"/>
            <a:ext cx="7714388" cy="108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sz="1800"/>
            </a:lvl1pPr>
            <a:lvl2pPr lvl="1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swald Light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17" name="Google Shape;17;p12"/>
          <p:cNvCxnSpPr/>
          <p:nvPr/>
        </p:nvCxnSpPr>
        <p:spPr>
          <a:xfrm>
            <a:off x="1524000" y="4571506"/>
            <a:ext cx="971155" cy="0"/>
          </a:xfrm>
          <a:prstGeom prst="straightConnector1">
            <a:avLst/>
          </a:prstGeom>
          <a:noFill/>
          <a:ln cap="flat" cmpd="sng" w="317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1429566" y="1045445"/>
            <a:ext cx="9238434" cy="8575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1429566" y="2286000"/>
            <a:ext cx="9238434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6" name="Google Shape;26;p14"/>
          <p:cNvSpPr txBox="1"/>
          <p:nvPr>
            <p:ph type="title"/>
          </p:nvPr>
        </p:nvSpPr>
        <p:spPr>
          <a:xfrm>
            <a:off x="1421745" y="1287554"/>
            <a:ext cx="8284963" cy="3113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swald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1421744" y="4619707"/>
            <a:ext cx="7722256" cy="14762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swald Light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1429566" y="1013411"/>
            <a:ext cx="9238434" cy="8895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1429566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2" type="body"/>
          </p:nvPr>
        </p:nvSpPr>
        <p:spPr>
          <a:xfrm>
            <a:off x="6172200" y="2135565"/>
            <a:ext cx="4495800" cy="3960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1429566" y="1079150"/>
            <a:ext cx="923843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1429567" y="2013217"/>
            <a:ext cx="4495799" cy="7042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b="0" sz="1800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swald Light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1429567" y="3048000"/>
            <a:ext cx="4495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3" type="body"/>
          </p:nvPr>
        </p:nvSpPr>
        <p:spPr>
          <a:xfrm>
            <a:off x="6172200" y="2013215"/>
            <a:ext cx="4495800" cy="7042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b="0" sz="1800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swald Light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4" type="body"/>
          </p:nvPr>
        </p:nvSpPr>
        <p:spPr>
          <a:xfrm>
            <a:off x="6172200" y="3048000"/>
            <a:ext cx="4495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47" name="Google Shape;47;p16"/>
          <p:cNvCxnSpPr/>
          <p:nvPr/>
        </p:nvCxnSpPr>
        <p:spPr>
          <a:xfrm>
            <a:off x="6270727" y="2876662"/>
            <a:ext cx="971155" cy="0"/>
          </a:xfrm>
          <a:prstGeom prst="straightConnector1">
            <a:avLst/>
          </a:prstGeom>
          <a:noFill/>
          <a:ln cap="flat" cmpd="sng" w="317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8" name="Google Shape;48;p16"/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cxnSp>
        <p:nvCxnSpPr>
          <p:cNvPr id="49" name="Google Shape;49;p16"/>
          <p:cNvCxnSpPr/>
          <p:nvPr/>
        </p:nvCxnSpPr>
        <p:spPr>
          <a:xfrm>
            <a:off x="1524000" y="2876662"/>
            <a:ext cx="971155" cy="0"/>
          </a:xfrm>
          <a:prstGeom prst="straightConnector1">
            <a:avLst/>
          </a:prstGeom>
          <a:noFill/>
          <a:ln cap="flat" cmpd="sng" w="317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52" name="Google Shape;52;p17"/>
          <p:cNvSpPr txBox="1"/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1443740" y="1558944"/>
            <a:ext cx="3279689" cy="18641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5334000" y="762000"/>
            <a:ext cx="5333999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9730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380"/>
              <a:buChar char="•"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40"/>
              <a:buFont typeface="Oswald Light"/>
              <a:buNone/>
              <a:defRPr sz="2400">
                <a:solidFill>
                  <a:schemeClr val="lt1"/>
                </a:solidFill>
              </a:defRPr>
            </a:lvl2pPr>
            <a:lvl3pPr indent="-33655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  <a:defRPr sz="20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Oswald Light"/>
              <a:buNone/>
              <a:defRPr sz="1800">
                <a:solidFill>
                  <a:schemeClr val="lt1"/>
                </a:solidFill>
              </a:defRPr>
            </a:lvl4pPr>
            <a:lvl5pPr indent="-325755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 sz="1800"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1443741" y="3649682"/>
            <a:ext cx="3233096" cy="1933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Font typeface="Oswald Light"/>
              <a:buNone/>
              <a:defRPr sz="14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None/>
              <a:defRPr sz="12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50"/>
              <a:buFont typeface="Oswald Light"/>
              <a:buNone/>
              <a:defRPr sz="10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9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1433543" y="1383126"/>
            <a:ext cx="3289886" cy="2045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/>
          <p:nvPr>
            <p:ph idx="2" type="pic"/>
          </p:nvPr>
        </p:nvSpPr>
        <p:spPr>
          <a:xfrm>
            <a:off x="5334001" y="762000"/>
            <a:ext cx="5333999" cy="53340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1433544" y="3649682"/>
            <a:ext cx="3243292" cy="1684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6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Font typeface="Oswald Light"/>
              <a:buNone/>
              <a:defRPr sz="1400"/>
            </a:lvl2pPr>
            <a:lvl3pPr indent="-228600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None/>
              <a:defRPr sz="1200"/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50"/>
              <a:buFont typeface="Oswald Light"/>
              <a:buNone/>
              <a:defRPr sz="1000"/>
            </a:lvl4pPr>
            <a:lvl5pPr indent="-22860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4115762" y="-456238"/>
            <a:ext cx="3866043" cy="923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 rot="5400000">
            <a:off x="7709080" y="2902619"/>
            <a:ext cx="4628301" cy="17584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 rot="5400000">
            <a:off x="2787851" y="-137840"/>
            <a:ext cx="4628301" cy="783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Char char="•"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>
                <a:solidFill>
                  <a:schemeClr val="lt1"/>
                </a:solidFill>
              </a:defRPr>
            </a:lvl2pPr>
            <a:lvl3pPr indent="-304165" lvl="2" marL="13716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Char char="•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>
                <a:solidFill>
                  <a:schemeClr val="lt1"/>
                </a:solidFill>
              </a:defRPr>
            </a:lvl4pPr>
            <a:lvl5pPr indent="-293370" lvl="4" marL="228600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b="1" i="0" sz="28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indent="-228600" lvl="1" marL="9144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60"/>
              <a:buFont typeface="Oswald Light"/>
              <a:buNone/>
              <a:defRPr b="1" i="0" sz="16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indent="-304165" lvl="2" marL="13716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9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indent="-228600" lvl="3" marL="18288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Oswald Light"/>
              <a:buNone/>
              <a:defRPr b="1" i="0" sz="12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indent="-293370" lvl="4" marL="2286000" marR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2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6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91" name="Google Shape;91;p1"/>
          <p:cNvPicPr preferRelativeResize="0"/>
          <p:nvPr/>
        </p:nvPicPr>
        <p:blipFill rotWithShape="1">
          <a:blip r:embed="rId3">
            <a:alphaModFix amt="50000"/>
          </a:blip>
          <a:srcRect b="3434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type="ctrTitle"/>
          </p:nvPr>
        </p:nvSpPr>
        <p:spPr>
          <a:xfrm>
            <a:off x="2238258" y="1424473"/>
            <a:ext cx="7714388" cy="28501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swald"/>
              <a:buNone/>
            </a:pPr>
            <a:r>
              <a:rPr b="1" lang="tr-TR" sz="3500"/>
              <a:t>MAKINE ÖĞRENMESI ILE TÜRKÇE E-TICARET ÜRÜN YORUMLARININ DUYGU ANALIZI</a:t>
            </a:r>
            <a:br>
              <a:rPr b="1" lang="tr-TR"/>
            </a:b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2238258" y="4848464"/>
            <a:ext cx="7714388" cy="108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25"/>
              <a:buNone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Dersin Öğretim Üyesi : Dr. Ali ŞENTÜRK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25"/>
              <a:buNone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AHMET EMRE ZAVAR 2322705052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25"/>
              <a:buNone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ABDURRAHMAN DEMİR 2322705030</a:t>
            </a:r>
            <a:endParaRPr/>
          </a:p>
        </p:txBody>
      </p:sp>
      <p:cxnSp>
        <p:nvCxnSpPr>
          <p:cNvPr id="94" name="Google Shape;94;p1"/>
          <p:cNvCxnSpPr/>
          <p:nvPr/>
        </p:nvCxnSpPr>
        <p:spPr>
          <a:xfrm>
            <a:off x="5609875" y="4578595"/>
            <a:ext cx="971155" cy="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101" name="Google Shape;101;p2"/>
          <p:cNvPicPr preferRelativeResize="0"/>
          <p:nvPr/>
        </p:nvPicPr>
        <p:blipFill rotWithShape="1">
          <a:blip r:embed="rId3">
            <a:alphaModFix amt="50000"/>
          </a:blip>
          <a:srcRect b="-1" l="41138" r="7083" t="0"/>
          <a:stretch/>
        </p:blipFill>
        <p:spPr>
          <a:xfrm>
            <a:off x="21" y="10"/>
            <a:ext cx="489583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>
            <p:ph type="ctrTitle"/>
          </p:nvPr>
        </p:nvSpPr>
        <p:spPr>
          <a:xfrm>
            <a:off x="0" y="1025718"/>
            <a:ext cx="5086350" cy="4770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swald"/>
              <a:buNone/>
            </a:pPr>
            <a:r>
              <a:rPr lang="tr-TR" sz="3500">
                <a:solidFill>
                  <a:srgbClr val="FFFFFF"/>
                </a:solidFill>
              </a:rPr>
              <a:t>PROJENİN AMACI </a:t>
            </a:r>
            <a:endParaRPr/>
          </a:p>
        </p:txBody>
      </p:sp>
      <p:sp>
        <p:nvSpPr>
          <p:cNvPr id="103" name="Google Shape;103;p2"/>
          <p:cNvSpPr txBox="1"/>
          <p:nvPr>
            <p:ph idx="1" type="subTitle"/>
          </p:nvPr>
        </p:nvSpPr>
        <p:spPr>
          <a:xfrm>
            <a:off x="5191126" y="123824"/>
            <a:ext cx="6838950" cy="6143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25"/>
              <a:buNone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Bu projenin amacı, Türkçe e-ticaret ürün yorumlarını otomatik olarak olumlu, olumsuz veya nötr olarak sınıflandıran bir sistem geliştirmektir.</a:t>
            </a:r>
            <a:br>
              <a:rPr lang="tr-TR" sz="2500">
                <a:latin typeface="Oswald"/>
                <a:ea typeface="Oswald"/>
                <a:cs typeface="Oswald"/>
                <a:sym typeface="Oswald"/>
              </a:rPr>
            </a:b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Yorumlardaki duygusal ifadeleri doğru bir şekilde analiz edebilmek için, LSTM (Long Short-Term Memory) tabanlı bir derin öğrenme modeli kullanılmıştır.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25"/>
              <a:buNone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Amaç, firmaların ve kullanıcıların yorumlardan hızlı ve anlamlı içgörüler elde edebileceği, etkileşimli ve kullanıcı dostu bir analiz aracı sunmaktır.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09" name="Google Shape;109;p3"/>
          <p:cNvSpPr txBox="1"/>
          <p:nvPr>
            <p:ph type="title"/>
          </p:nvPr>
        </p:nvSpPr>
        <p:spPr>
          <a:xfrm>
            <a:off x="3725002" y="299924"/>
            <a:ext cx="5008696" cy="5143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swald"/>
              <a:buNone/>
            </a:pPr>
            <a:r>
              <a:rPr lang="tr-TR" sz="3000"/>
              <a:t>BENZER ÇALIŞMALAR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323850" y="814273"/>
            <a:ext cx="6390760" cy="5900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rPr lang="tr-TR" sz="9200">
                <a:latin typeface="Oswald"/>
                <a:ea typeface="Oswald"/>
                <a:cs typeface="Oswald"/>
                <a:sym typeface="Oswald"/>
              </a:rPr>
              <a:t>Bu alanda yapılmış bazı önemli çalışmalar şunlardır: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rPr lang="tr-TR" sz="9200">
                <a:latin typeface="Oswald"/>
                <a:ea typeface="Oswald"/>
                <a:cs typeface="Oswald"/>
                <a:sym typeface="Oswald"/>
              </a:rPr>
              <a:t>🔹 Yücelar vd.: 200.000 yorum üzerinde LSTM modeli kullanarak duygu analizi yapmış, derin öğrenmenin geleneksel yöntemlerden daha başarılı olduğunu göstermiştir.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rPr lang="tr-TR" sz="9200">
                <a:latin typeface="Oswald"/>
                <a:ea typeface="Oswald"/>
                <a:cs typeface="Oswald"/>
                <a:sym typeface="Oswald"/>
              </a:rPr>
              <a:t>🔹 Kılıçer &amp; Samli: 11.412 Türkçe yorumda 8 farklı makine öğrenmesi algoritması denemiş, en yüksek başarıyı %84.6 AUC değeriyle Naive Bayes (NBM) sağlamıştır.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rPr lang="tr-TR" sz="9200">
                <a:latin typeface="Oswald"/>
                <a:ea typeface="Oswald"/>
                <a:cs typeface="Oswald"/>
                <a:sym typeface="Oswald"/>
              </a:rPr>
              <a:t>🔹 Göçgün &amp; Onan: Amazon yorumlarını analiz etmiş, Karar Ağacı algoritmasıyla %94 doğruluk ve %96 AUC elde etmiştir.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rPr lang="tr-TR" sz="9200">
                <a:latin typeface="Oswald"/>
                <a:ea typeface="Oswald"/>
                <a:cs typeface="Oswald"/>
                <a:sym typeface="Oswald"/>
              </a:rPr>
              <a:t>Biz de %88.21 doğruluk oranıyla güçlü sonuçlar veren LSTM tabanlı modelimiz sayesinde, Türkçe e-ticaret yorumlarını duygu yönüne göre başarılı bir şekilde sınıflandıran ve kullanıcı arayüzüyle desteklenmiş özgün bir sistem geliştirdik.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t/>
            </a:r>
            <a:endParaRPr/>
          </a:p>
        </p:txBody>
      </p:sp>
      <p:pic>
        <p:nvPicPr>
          <p:cNvPr descr="Ağ teknolojisinden oluşan arka plan" id="111" name="Google Shape;111;p3"/>
          <p:cNvPicPr preferRelativeResize="0"/>
          <p:nvPr/>
        </p:nvPicPr>
        <p:blipFill rotWithShape="1">
          <a:blip r:embed="rId3">
            <a:alphaModFix/>
          </a:blip>
          <a:srcRect b="2" l="37899" r="3852" t="0"/>
          <a:stretch/>
        </p:blipFill>
        <p:spPr>
          <a:xfrm>
            <a:off x="6714610" y="1114197"/>
            <a:ext cx="4629606" cy="4629606"/>
          </a:xfrm>
          <a:custGeom>
            <a:rect b="b" l="l" r="r" t="t"/>
            <a:pathLst>
              <a:path extrusionOk="0" h="4629606" w="4629606">
                <a:moveTo>
                  <a:pt x="2314803" y="0"/>
                </a:moveTo>
                <a:cubicBezTo>
                  <a:pt x="3593233" y="0"/>
                  <a:pt x="4629606" y="1036373"/>
                  <a:pt x="4629606" y="2314803"/>
                </a:cubicBezTo>
                <a:cubicBezTo>
                  <a:pt x="4629606" y="3593233"/>
                  <a:pt x="3593233" y="4629606"/>
                  <a:pt x="2314803" y="4629606"/>
                </a:cubicBezTo>
                <a:cubicBezTo>
                  <a:pt x="1036373" y="4629606"/>
                  <a:pt x="0" y="3593233"/>
                  <a:pt x="0" y="2314803"/>
                </a:cubicBezTo>
                <a:cubicBezTo>
                  <a:pt x="0" y="1036373"/>
                  <a:pt x="1036373" y="0"/>
                  <a:pt x="231480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oogle Shape;116;p4"/>
          <p:cNvCxnSpPr/>
          <p:nvPr/>
        </p:nvCxnSpPr>
        <p:spPr>
          <a:xfrm>
            <a:off x="1524000" y="4571506"/>
            <a:ext cx="971155" cy="0"/>
          </a:xfrm>
          <a:prstGeom prst="straightConnector1">
            <a:avLst/>
          </a:prstGeom>
          <a:noFill/>
          <a:ln cap="flat" cmpd="sng" w="317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118" name="Google Shape;11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456" l="0" r="0" t="0"/>
          <a:stretch/>
        </p:blipFill>
        <p:spPr>
          <a:xfrm>
            <a:off x="20" y="1571"/>
            <a:ext cx="12191980" cy="685642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1293652" y="1260628"/>
            <a:ext cx="4336744" cy="433674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2009577" y="2752725"/>
            <a:ext cx="2076648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-TR" sz="3500" u="none" cap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Veri Seti ve Ön İşleme</a:t>
            </a:r>
            <a:endParaRPr b="0" i="0" sz="35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791199" y="323850"/>
            <a:ext cx="6257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346321" y="0"/>
            <a:ext cx="5250949" cy="7171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Çalışmada kullanılan veri seti, Github üzerinden temin edilen ve yapay zeka destekli yöntemlerle genişletilen 3093 Türkçe ürün yorumundan oluşmaktadır.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🔹</a:t>
            </a: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Yorumların 1276 tanesi olumlu , 1438 tanesi olumsuz ve 379 tanesi nötrdür.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🔹</a:t>
            </a: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Yorumlar, Olumlu (1), Olumsuz (0) ve Nötr (2) olarak etiketlenmiştir.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🔹 </a:t>
            </a:r>
            <a:r>
              <a:rPr b="1"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Veri ön işleme adımları:</a:t>
            </a:r>
            <a:endParaRPr/>
          </a:p>
          <a:p>
            <a:pPr indent="-1651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Tüm metinler küçük harfe dönüştürülmüştür.</a:t>
            </a:r>
            <a:endParaRPr/>
          </a:p>
          <a:p>
            <a:pPr indent="-1651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Noktalama işaretleri ve anlamsız ifadeler temizlenmiştir.</a:t>
            </a:r>
            <a:endParaRPr/>
          </a:p>
          <a:p>
            <a:pPr indent="-1651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Çok kısa yorumlar veri setinden çıkarılmıştır.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🔹 Bu işlemler sayesinde veriler, modele daha uygun ve anlamlı bir hâle getirilmiştir.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129" name="Google Shape;129;p5"/>
          <p:cNvPicPr preferRelativeResize="0"/>
          <p:nvPr/>
        </p:nvPicPr>
        <p:blipFill rotWithShape="1">
          <a:blip r:embed="rId3">
            <a:alphaModFix amt="50000"/>
          </a:blip>
          <a:srcRect b="3469" l="0" r="0" t="0"/>
          <a:stretch/>
        </p:blipFill>
        <p:spPr>
          <a:xfrm>
            <a:off x="20" y="2520"/>
            <a:ext cx="12191980" cy="685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>
            <p:ph type="title"/>
          </p:nvPr>
        </p:nvSpPr>
        <p:spPr>
          <a:xfrm>
            <a:off x="1429566" y="301659"/>
            <a:ext cx="9238434" cy="5373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swald"/>
              <a:buNone/>
            </a:pPr>
            <a:r>
              <a:rPr lang="tr-TR" sz="3500"/>
              <a:t>KULLANILAN YÖNTEMLER VE ARAÇLAR</a:t>
            </a:r>
            <a:endParaRPr sz="3500">
              <a:solidFill>
                <a:srgbClr val="FFFFFF"/>
              </a:solidFill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1524000" y="2286000"/>
            <a:ext cx="971155" cy="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84841" y="838987"/>
            <a:ext cx="12107139" cy="6016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5"/>
              <a:buChar char="•"/>
            </a:pP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Bu projede, veri analizi ve modelleme sürecinde çeşitli yazılım araçlarından ve yöntemlerinden faydalanılmıştır: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55"/>
              <a:buChar char="•"/>
            </a:pP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🔸 Model Python programlama diliyle yazılmıştır.</a:t>
            </a:r>
            <a:br>
              <a:rPr lang="tr-TR" sz="2300">
                <a:latin typeface="Oswald"/>
                <a:ea typeface="Oswald"/>
                <a:cs typeface="Oswald"/>
                <a:sym typeface="Oswald"/>
              </a:rPr>
            </a:b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🔸 TensorFlow ve Keras kullanılarak derin öğrenme modeli kurulmuştur.</a:t>
            </a:r>
            <a:br>
              <a:rPr lang="tr-TR" sz="2300">
                <a:latin typeface="Oswald"/>
                <a:ea typeface="Oswald"/>
                <a:cs typeface="Oswald"/>
                <a:sym typeface="Oswald"/>
              </a:rPr>
            </a:b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🔸 Scikit-learn ile başarı ölçütleri hesaplanmıştır.</a:t>
            </a:r>
            <a:br>
              <a:rPr lang="tr-TR" sz="2300">
                <a:latin typeface="Oswald"/>
                <a:ea typeface="Oswald"/>
                <a:cs typeface="Oswald"/>
                <a:sym typeface="Oswald"/>
              </a:rPr>
            </a:b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🔸 Grafik arayüz ise Tkinter kütüphanesiyle hazırlanmıştır.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55"/>
              <a:buChar char="•"/>
            </a:pP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Veriler işlenmeden önce küçük harfe dönüştürülmüş, noktalama işaretlerinden arındırılmıştır. Anlamsız ve kısa yorumlar veri setinden çıkarılmıştır. Yorumlar Tokenizer yardımıyla sayısal dizilere dönüştürülmüş, ardından sabit uzunlukta olacak şekilde hizalanmıştır.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55"/>
              <a:buChar char="•"/>
            </a:pP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Model eğitilirken overfitting’i engellemek amacıyla Dropout uygulanmıştır. Ayrıca sınıflar arasındaki dengesizlikler fark edilerek class weight yöntemiyle bu farklar minimize edilmiştir.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55"/>
              <a:buChar char="•"/>
            </a:pPr>
            <a:r>
              <a:rPr lang="tr-TR" sz="2300">
                <a:latin typeface="Oswald"/>
                <a:ea typeface="Oswald"/>
                <a:cs typeface="Oswald"/>
                <a:sym typeface="Oswald"/>
              </a:rPr>
              <a:t>Tüm bu adımlar sonucunda model daha sağlıklı öğrenmiş ve daha doğru sonuçlar üretmiştir.</a:t>
            </a:r>
            <a:endParaRPr/>
          </a:p>
          <a:p>
            <a:pPr indent="-177165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38" name="Google Shape;138;p6"/>
          <p:cNvSpPr txBox="1"/>
          <p:nvPr>
            <p:ph type="title"/>
          </p:nvPr>
        </p:nvSpPr>
        <p:spPr>
          <a:xfrm>
            <a:off x="1036948" y="678730"/>
            <a:ext cx="5401314" cy="8189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swald"/>
              <a:buNone/>
            </a:pPr>
            <a:r>
              <a:rPr lang="tr-TR" sz="3500"/>
              <a:t>MODELIN YAPISI (LSTM MIMARISI)</a:t>
            </a:r>
            <a:endParaRPr/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282803" y="1772240"/>
            <a:ext cx="6357161" cy="508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47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900">
                <a:latin typeface="Oswald"/>
                <a:ea typeface="Oswald"/>
                <a:cs typeface="Oswald"/>
                <a:sym typeface="Oswald"/>
              </a:rPr>
              <a:t>Bu projede, Türkçe metinlerin duygusal yapısını analiz edebilmek için Bi-directional LSTM (Çift Yönlü LSTM) mimarisi kullanılmıştır.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900">
                <a:latin typeface="Oswald"/>
                <a:ea typeface="Oswald"/>
                <a:cs typeface="Oswald"/>
                <a:sym typeface="Oswald"/>
              </a:rPr>
              <a:t>Yorumlar önce sayısal vektörlere dönüştürülmüş, ardından çift yönlü LSTM katmanında işlenmiştir. Sonuçlar, Dense katman aracılığıyla 3 sınıfa (Olumlu, Olumsuz, Nötr) ayrılmıştır.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900">
                <a:latin typeface="Oswald"/>
                <a:ea typeface="Oswald"/>
                <a:cs typeface="Oswald"/>
                <a:sym typeface="Oswald"/>
              </a:rPr>
              <a:t>Modelin aşırı öğrenmesini engellemek için Dropout uygulanmış, erken durdurma tekniğiyle eğitim süreci optimize edilmiştir.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900">
                <a:latin typeface="Oswald"/>
                <a:ea typeface="Oswald"/>
                <a:cs typeface="Oswald"/>
                <a:sym typeface="Oswald"/>
              </a:rPr>
              <a:t>Bu yapı sayesinde model, yorumlardaki duygu yönünü anlamada başarılı sonuçlar vermiştir.</a:t>
            </a:r>
            <a:endParaRPr/>
          </a:p>
          <a:p>
            <a:pPr indent="-199025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t/>
            </a:r>
            <a:endParaRPr/>
          </a:p>
        </p:txBody>
      </p:sp>
      <p:pic>
        <p:nvPicPr>
          <p:cNvPr descr="Ağ teknolojisinden oluşan arka plan" id="140" name="Google Shape;140;p6"/>
          <p:cNvPicPr preferRelativeResize="0"/>
          <p:nvPr/>
        </p:nvPicPr>
        <p:blipFill rotWithShape="1">
          <a:blip r:embed="rId3">
            <a:alphaModFix/>
          </a:blip>
          <a:srcRect b="2" l="37899" r="3852" t="0"/>
          <a:stretch/>
        </p:blipFill>
        <p:spPr>
          <a:xfrm>
            <a:off x="6639965" y="1114197"/>
            <a:ext cx="4629606" cy="4629606"/>
          </a:xfrm>
          <a:custGeom>
            <a:rect b="b" l="l" r="r" t="t"/>
            <a:pathLst>
              <a:path extrusionOk="0" h="4629606" w="4629606">
                <a:moveTo>
                  <a:pt x="2314803" y="0"/>
                </a:moveTo>
                <a:cubicBezTo>
                  <a:pt x="3593233" y="0"/>
                  <a:pt x="4629606" y="1036373"/>
                  <a:pt x="4629606" y="2314803"/>
                </a:cubicBezTo>
                <a:cubicBezTo>
                  <a:pt x="4629606" y="3593233"/>
                  <a:pt x="3593233" y="4629606"/>
                  <a:pt x="2314803" y="4629606"/>
                </a:cubicBezTo>
                <a:cubicBezTo>
                  <a:pt x="1036373" y="4629606"/>
                  <a:pt x="0" y="3593233"/>
                  <a:pt x="0" y="2314803"/>
                </a:cubicBezTo>
                <a:cubicBezTo>
                  <a:pt x="0" y="1036373"/>
                  <a:pt x="1036373" y="0"/>
                  <a:pt x="231480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147" name="Google Shape;147;p7"/>
          <p:cNvPicPr preferRelativeResize="0"/>
          <p:nvPr/>
        </p:nvPicPr>
        <p:blipFill rotWithShape="1">
          <a:blip r:embed="rId3">
            <a:alphaModFix amt="50000"/>
          </a:blip>
          <a:srcRect b="-1" l="41137" r="7084" t="0"/>
          <a:stretch/>
        </p:blipFill>
        <p:spPr>
          <a:xfrm>
            <a:off x="20" y="10"/>
            <a:ext cx="6095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>
            <p:ph type="title"/>
          </p:nvPr>
        </p:nvSpPr>
        <p:spPr>
          <a:xfrm>
            <a:off x="1028700" y="1025718"/>
            <a:ext cx="4057650" cy="4770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</a:pPr>
            <a:r>
              <a:rPr lang="tr-TR" sz="3400"/>
              <a:t>SONUÇLAR VE DEĞERLENDIRME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6843860" y="499620"/>
            <a:ext cx="5348120" cy="6183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74347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Model, test verisi üzerinde yapılan değerlendirmelerde %88.21 doğruluk oranına ulaşmıştır.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Olumlu yorumları %90, olumsuz yorumları %87, nötr yorumları ise %76 F1-skoruyla sınıflandırmıştır.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Özellikle olumlu ve olumsuz sınıflarda yüksek başarı sağlanmıştır. Nötr sınıfta başarı nispeten düşük kalmıştır; bu da yorumların dilsel belirsizliklerinden kaynaklanmıştır.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Model, genel olarak yorumların duygu yönünü doğru tahmin edebilmiş ve hedeflenen performansı göstermiştir</a:t>
            </a:r>
            <a:r>
              <a:rPr lang="tr-TR"/>
              <a:t>.</a:t>
            </a:r>
            <a:endParaRPr/>
          </a:p>
          <a:p>
            <a:pPr indent="-184452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156" name="Google Shape;156;p8"/>
          <p:cNvPicPr preferRelativeResize="0"/>
          <p:nvPr/>
        </p:nvPicPr>
        <p:blipFill rotWithShape="1">
          <a:blip r:embed="rId3">
            <a:alphaModFix amt="50000"/>
          </a:blip>
          <a:srcRect b="3469" l="0" r="0" t="0"/>
          <a:stretch/>
        </p:blipFill>
        <p:spPr>
          <a:xfrm>
            <a:off x="20" y="2520"/>
            <a:ext cx="12191980" cy="685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 txBox="1"/>
          <p:nvPr>
            <p:ph type="title"/>
          </p:nvPr>
        </p:nvSpPr>
        <p:spPr>
          <a:xfrm>
            <a:off x="1429566" y="1045445"/>
            <a:ext cx="9238434" cy="457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swald"/>
              <a:buNone/>
            </a:pPr>
            <a:r>
              <a:rPr lang="tr-TR" sz="3500"/>
              <a:t>LITERATÜRLE KARŞILAŞTIRMA</a:t>
            </a:r>
            <a:endParaRPr sz="3500">
              <a:solidFill>
                <a:srgbClr val="FFFFFF"/>
              </a:solidFill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1524000" y="2286000"/>
            <a:ext cx="971155" cy="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0" y="2516965"/>
            <a:ext cx="12191999" cy="359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Char char="•"/>
            </a:pPr>
            <a:r>
              <a:rPr lang="tr-TR" sz="3000">
                <a:latin typeface="Oswald"/>
                <a:ea typeface="Oswald"/>
                <a:cs typeface="Oswald"/>
                <a:sym typeface="Oswald"/>
              </a:rPr>
              <a:t>Yücelar vd., 200.000 yorumla LSTM kullanarak %90’ın üzerinde doğruluk elde etmiştir.</a:t>
            </a:r>
            <a:br>
              <a:rPr lang="tr-TR" sz="3000">
                <a:latin typeface="Oswald"/>
                <a:ea typeface="Oswald"/>
                <a:cs typeface="Oswald"/>
                <a:sym typeface="Oswald"/>
              </a:rPr>
            </a:br>
            <a:r>
              <a:rPr lang="tr-TR" sz="3000">
                <a:latin typeface="Oswald"/>
                <a:ea typeface="Oswald"/>
                <a:cs typeface="Oswald"/>
                <a:sym typeface="Oswald"/>
              </a:rPr>
              <a:t>Göçgün &amp; Onan ise Karar Ağacı yöntemiyle %94 doğruluk bildirmiştir.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50"/>
              <a:buChar char="•"/>
            </a:pPr>
            <a:r>
              <a:rPr lang="tr-TR" sz="3000">
                <a:latin typeface="Oswald"/>
                <a:ea typeface="Oswald"/>
                <a:cs typeface="Oswald"/>
                <a:sym typeface="Oswald"/>
              </a:rPr>
              <a:t>Bizim modelimiz, daha küçük bir veriyle %88.21 doğruluk sağlamış ve literatürdeki yöntemlerle yarışabilecek düzeye ulaşmıştır.</a:t>
            </a:r>
            <a:endParaRPr/>
          </a:p>
          <a:p>
            <a:pPr indent="-177165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>
            <p:ph type="title"/>
          </p:nvPr>
        </p:nvSpPr>
        <p:spPr>
          <a:xfrm>
            <a:off x="1429566" y="509047"/>
            <a:ext cx="9238434" cy="707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Oswald"/>
              <a:buNone/>
            </a:pPr>
            <a:r>
              <a:rPr lang="tr-TR" sz="3500"/>
              <a:t>GRAFIK ARAYÜZ (GUI)</a:t>
            </a:r>
            <a:endParaRPr sz="3500"/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1" y="1216059"/>
            <a:ext cx="6096000" cy="5410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800">
                <a:latin typeface="Oswald"/>
                <a:ea typeface="Oswald"/>
                <a:cs typeface="Oswald"/>
                <a:sym typeface="Oswald"/>
              </a:rPr>
              <a:t>Bu projede geliştirilen model, sadece arka planda çalışmakla kalmamış, aynı zamanda kullanıcıların kolayca erişebileceği bir grafik arayüzle (GUI) desteklenmiştir.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800">
                <a:latin typeface="Oswald"/>
                <a:ea typeface="Oswald"/>
                <a:cs typeface="Oswald"/>
                <a:sym typeface="Oswald"/>
              </a:rPr>
              <a:t>Python’un Tkinter kütüphanesi kullanılarak oluşturulan bu arayüz sayesinde kullanıcılar: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Font typeface="Arial"/>
              <a:buChar char="•"/>
            </a:pPr>
            <a:r>
              <a:rPr lang="tr-TR" sz="2800">
                <a:latin typeface="Oswald"/>
                <a:ea typeface="Oswald"/>
                <a:cs typeface="Oswald"/>
                <a:sym typeface="Oswald"/>
              </a:rPr>
              <a:t>Yorumlarını metin kutusuna yazarak,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Font typeface="Arial"/>
              <a:buChar char="•"/>
            </a:pPr>
            <a:r>
              <a:rPr lang="tr-TR" sz="2800">
                <a:latin typeface="Oswald"/>
                <a:ea typeface="Oswald"/>
                <a:cs typeface="Oswald"/>
                <a:sym typeface="Oswald"/>
              </a:rPr>
              <a:t>“Sınıflandır” butonuna tıklayarak,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Font typeface="Arial"/>
              <a:buChar char="•"/>
            </a:pPr>
            <a:r>
              <a:rPr lang="tr-TR" sz="2800">
                <a:latin typeface="Oswald"/>
                <a:ea typeface="Oswald"/>
                <a:cs typeface="Oswald"/>
                <a:sym typeface="Oswald"/>
              </a:rPr>
              <a:t>Yorumun Olumlu, Olumsuz veya Nötr olduğunu anında görebilmektedir.</a:t>
            </a:r>
            <a:endParaRPr/>
          </a:p>
          <a:p>
            <a:pPr indent="-274320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800">
                <a:latin typeface="Oswald"/>
                <a:ea typeface="Oswald"/>
                <a:cs typeface="Oswald"/>
                <a:sym typeface="Oswald"/>
              </a:rPr>
              <a:t>Bu arayüz, modelin gerçek zamanlı test edilmesini kolaylaştırmış ve duygu analizini herkes için erişilebilir hale getirmiştir.</a:t>
            </a:r>
            <a:endParaRPr/>
          </a:p>
          <a:p>
            <a:pPr indent="-199025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t/>
            </a:r>
            <a:endParaRPr/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1591" y="1368381"/>
            <a:ext cx="5668618" cy="5109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descr="Ağ teknolojisinden oluşan arka plan" id="173" name="Google Shape;173;p10"/>
          <p:cNvPicPr preferRelativeResize="0"/>
          <p:nvPr/>
        </p:nvPicPr>
        <p:blipFill rotWithShape="1">
          <a:blip r:embed="rId3">
            <a:alphaModFix amt="50000"/>
          </a:blip>
          <a:srcRect b="3469" l="0" r="0" t="0"/>
          <a:stretch/>
        </p:blipFill>
        <p:spPr>
          <a:xfrm>
            <a:off x="20" y="2520"/>
            <a:ext cx="12191980" cy="685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>
            <p:ph type="title"/>
          </p:nvPr>
        </p:nvSpPr>
        <p:spPr>
          <a:xfrm>
            <a:off x="1429566" y="1045445"/>
            <a:ext cx="9238434" cy="8575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Oswald"/>
              <a:buNone/>
            </a:pPr>
            <a:r>
              <a:rPr lang="tr-TR" sz="4500"/>
              <a:t>SONUÇ VE TEŞEKKÜR</a:t>
            </a:r>
            <a:endParaRPr sz="4500">
              <a:solidFill>
                <a:srgbClr val="FFFFFF"/>
              </a:solidFill>
            </a:endParaRPr>
          </a:p>
        </p:txBody>
      </p:sp>
      <p:cxnSp>
        <p:nvCxnSpPr>
          <p:cNvPr id="175" name="Google Shape;175;p10"/>
          <p:cNvCxnSpPr/>
          <p:nvPr/>
        </p:nvCxnSpPr>
        <p:spPr>
          <a:xfrm>
            <a:off x="1524000" y="2286000"/>
            <a:ext cx="971155" cy="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6" name="Google Shape;176;p10"/>
          <p:cNvSpPr txBox="1"/>
          <p:nvPr>
            <p:ph idx="1" type="body"/>
          </p:nvPr>
        </p:nvSpPr>
        <p:spPr>
          <a:xfrm>
            <a:off x="1429555" y="2743200"/>
            <a:ext cx="9571525" cy="38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47" lvl="0" marL="27432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Bu çalışmada geliştirilen model, Türkçe e-ticaret yorumlarını yüksek doğrulukla sınıflandırabilmiş ve pratik uygulamalarda kullanılabilecek seviyeye ulaşmıştır.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Sonuçlar, makine öğrenmesi ve derin öğrenmenin metin tabanlı veri analizinde ne kadar etkili olduğunu göstermiştir.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Gelecek çalışmalarda, daha büyük ve dengeli veri setleri ile model performansı artırılabilir; ayrıca transformer tabanlı (BERT, RoBERTa gibi) yeni nesil mimariler denenebilir.</a:t>
            </a:r>
            <a:endParaRPr/>
          </a:p>
          <a:p>
            <a:pPr indent="-274347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Char char="•"/>
            </a:pPr>
            <a:r>
              <a:rPr lang="tr-TR" sz="2500">
                <a:latin typeface="Oswald"/>
                <a:ea typeface="Oswald"/>
                <a:cs typeface="Oswald"/>
                <a:sym typeface="Oswald"/>
              </a:rPr>
              <a:t>Bizi dinlediğiniz için teşekkür ederiz. </a:t>
            </a:r>
            <a:endParaRPr/>
          </a:p>
          <a:p>
            <a:pPr indent="-184452" lvl="0" marL="27432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850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PortalVTI">
  <a:themeElements>
    <a:clrScheme name="Earth">
      <a:dk1>
        <a:srgbClr val="000000"/>
      </a:dk1>
      <a:lt1>
        <a:srgbClr val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2025-05-31T17:41:34Z</dcterms:created>
  <dc:creator>ABDURRAHMAN DEMİR</dc:creator>
</cp:coreProperties>
</file>